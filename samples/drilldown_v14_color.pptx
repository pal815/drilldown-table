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5760" y="365760"/>
          <a:ext cx="5385816" cy="528523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2416"/>
                <a:gridCol w="1216152"/>
                <a:gridCol w="1042416"/>
                <a:gridCol w="1042416"/>
                <a:gridCol w="1042416"/>
              </a:tblGrid>
              <a:tr h="365760">
                <a:tc gridSpan="5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맑은 고딕"/>
                        </a:rPr>
                        <a:t>2024년 사업부별 실적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37744">
                <a:tc gridSpan="5"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44546A"/>
                          </a:solidFill>
                          <a:latin typeface="맑은 고딕"/>
                        </a:rPr>
                        <a:t>단위: 억원 / %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19050">
                      <a:solidFill>
                        <a:srgbClr val="404040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매출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영업이익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점유율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A사업부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404040"/>
                      </a:solidFill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1,200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38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20%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48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B사업부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404040"/>
                      </a:solidFill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800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13%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C사업부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404040"/>
                      </a:solidFill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2,100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520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33%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125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540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135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34%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570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35%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5760" y="365760"/>
          <a:ext cx="11429991" cy="206654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03986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  <a:gridCol w="695067"/>
              </a:tblGrid>
              <a:tr h="365760">
                <a:tc gridSpan="16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맑은 고딕"/>
                        </a:rPr>
                        <a:t>2024년 사업부별 실적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37744">
                <a:tc gridSpan="16"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44546A"/>
                          </a:solidFill>
                          <a:latin typeface="맑은 고딕"/>
                        </a:rPr>
                        <a:t>단위: 억원 / %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19050">
                      <a:solidFill>
                        <a:srgbClr val="404040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 row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1F3864"/>
                    </a:solidFill>
                  </a:tcPr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A사업부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B사업부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5"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C사업부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Q1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Q3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Q4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매출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1,200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800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2,100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540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570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영업이익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38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48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90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18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22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24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26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520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110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125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135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점유율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20%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21%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11%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13%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33%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31%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32%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34%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35%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65760" y="365760"/>
          <a:ext cx="6601968" cy="294436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42416"/>
                <a:gridCol w="1129284"/>
                <a:gridCol w="738378"/>
                <a:gridCol w="738378"/>
                <a:gridCol w="738378"/>
                <a:gridCol w="738378"/>
                <a:gridCol w="738378"/>
                <a:gridCol w="738378"/>
              </a:tblGrid>
              <a:tr h="365760">
                <a:tc gridSpan="8"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A1A1A"/>
                          </a:solidFill>
                          <a:latin typeface="맑은 고딕"/>
                        </a:rPr>
                        <a:t>사업부 × 연도 매출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3175"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37744">
                <a:tc gridSpan="8"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44546A"/>
                          </a:solidFill>
                          <a:latin typeface="맑은 고딕"/>
                        </a:rPr>
                        <a:t>단위: 억원</a:t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3175">
                      <a:noFill/>
                    </a:lnT>
                    <a:lnB cap="flat" w="19050">
                      <a:solidFill>
                        <a:srgbClr val="404040"/>
                      </a:solidFill>
                    </a:lnB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92608">
                <a:tc rowSpan="2" gridSpan="2">
                  <a:txBody>
                    <a:bodyPr wrap="squar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</a:rPr>
                        <a:t>사업부 ＼ 연도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1F3864"/>
                    </a:solidFill>
                  </a:tcPr>
                </a:tc>
                <a:tc rowSpan="2"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2023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404040"/>
                      </a:solidFill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2024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404040"/>
                      </a:solidFill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3175">
                      <a:noFill/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</a:tr>
              <a:tr h="292608">
                <a:tc gridSpan="2" vMerge="1">
                  <a:txBody>
                    <a:bodyPr/>
                    <a:lstStyle/>
                    <a:p/>
                  </a:txBody>
                  <a:tcPr/>
                </a:tc>
                <a:tc hMerge="1"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상반기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하반기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상반기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하반기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A사업부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404040"/>
                      </a:solidFill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2,400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1,150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1,250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2,600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1,250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1,350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국내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1,450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700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750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1,600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780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820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해외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950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500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1,000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470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530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B사업부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3175">
                      <a:noFill/>
                    </a:lnR>
                    <a:lnT cap="flat" w="19050">
                      <a:solidFill>
                        <a:srgbClr val="404040"/>
                      </a:solidFill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3175">
                      <a:noFill/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1,130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550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580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1,190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580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A1A1A"/>
                          </a:solidFill>
                          <a:latin typeface="맑은 고딕"/>
                        </a:rPr>
                        <a:t>610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3175">
                      <a:noFill/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국내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620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300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320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640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310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330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19050">
                      <a:solidFill>
                        <a:srgbClr val="404040"/>
                      </a:solidFill>
                    </a:lnT>
                    <a:lnB cap="flat" w="6350">
                      <a:solidFill>
                        <a:srgbClr val="C9D2E0"/>
                      </a:solidFill>
                    </a:lnB>
                    <a:solidFill>
                      <a:srgbClr val="EDF2FA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3175">
                      <a:noFill/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D6E0F2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44546A"/>
                          </a:solidFill>
                          <a:latin typeface="맑은 고딕"/>
                        </a:rPr>
                        <a:t>해외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510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260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550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270</a:t>
                      </a:r>
                    </a:p>
                  </a:txBody>
                  <a:tcPr marL="36576" marR="36576" marT="9144" marB="9144" anchor="ctr">
                    <a:lnL cap="flat" w="19050">
                      <a:solidFill>
                        <a:srgbClr val="404040"/>
                      </a:solidFill>
                    </a:lnL>
                    <a:lnR cap="flat" w="6350">
                      <a:solidFill>
                        <a:srgbClr val="C9D2E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A1A1A"/>
                          </a:solidFill>
                          <a:latin typeface="맑은 고딕"/>
                        </a:rPr>
                        <a:t>280</a:t>
                      </a:r>
                    </a:p>
                  </a:txBody>
                  <a:tcPr marL="36576" marR="36576" marT="9144" marB="9144" anchor="ctr">
                    <a:lnL cap="flat" w="6350">
                      <a:solidFill>
                        <a:srgbClr val="C9D2E0"/>
                      </a:solidFill>
                    </a:lnL>
                    <a:lnR cap="flat" w="19050">
                      <a:solidFill>
                        <a:srgbClr val="404040"/>
                      </a:solidFill>
                    </a:lnR>
                    <a:lnT cap="flat" w="6350">
                      <a:solidFill>
                        <a:srgbClr val="C9D2E0"/>
                      </a:solidFill>
                    </a:lnT>
                    <a:lnB cap="flat" w="19050">
                      <a:solidFill>
                        <a:srgbClr val="404040"/>
                      </a:solidFill>
                    </a:lnB>
                    <a:solidFill>
                      <a:srgbClr val="EDF2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